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99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56643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52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2" y="1584902"/>
            <a:ext cx="10566418" cy="446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56643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52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2" y="1584902"/>
            <a:ext cx="10566418" cy="446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2"/>
            <a:ext cx="1088342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8F1F"/>
                </a:solidFill>
                <a:latin typeface="Sitka Banner Semibold" pitchFamily="2" charset="0"/>
                <a:ea typeface="Space Grotesk" pitchFamily="34" charset="-122"/>
                <a:cs typeface="Space Grotesk" pitchFamily="34" charset="-120"/>
              </a:rPr>
              <a:t>COMMUNITY PROJECT (</a:t>
            </a:r>
            <a:r>
              <a:rPr lang="en-US" sz="1300" b="1" dirty="0">
                <a:solidFill>
                  <a:srgbClr val="D98F1F"/>
                </a:solidFill>
                <a:latin typeface="+mj-lt"/>
                <a:ea typeface="Space Grotesk" pitchFamily="34" charset="-122"/>
                <a:cs typeface="Space Grotesk" pitchFamily="34" charset="-120"/>
              </a:rPr>
              <a:t>1BCP308</a:t>
            </a:r>
            <a:r>
              <a:rPr lang="en-US" sz="1300" b="1" dirty="0">
                <a:solidFill>
                  <a:srgbClr val="D98F1F"/>
                </a:solidFill>
                <a:latin typeface="Sitka Banner Semibold" pitchFamily="2" charset="0"/>
                <a:ea typeface="Space Grotesk" pitchFamily="34" charset="-122"/>
                <a:cs typeface="Space Grotesk" pitchFamily="34" charset="-120"/>
              </a:rPr>
              <a:t>)</a:t>
            </a:r>
            <a:endParaRPr lang="en-US" sz="1300" dirty="0">
              <a:latin typeface="Sitka Banner Semibold" pitchFamily="2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2373583"/>
            <a:ext cx="10883429" cy="718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2F0EA"/>
                </a:solidFill>
                <a:latin typeface="Sitka Heading" pitchFamily="2" charset="0"/>
              </a:rPr>
              <a:t>CivicLight</a:t>
            </a:r>
            <a:endParaRPr lang="en-US" sz="5200" dirty="0">
              <a:latin typeface="Sitka Heading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782" y="3194032"/>
            <a:ext cx="10883429" cy="317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Sitka Heading Semibold" pitchFamily="2" charset="0"/>
                <a:ea typeface="Space Grotesk" pitchFamily="34" charset="-122"/>
                <a:cs typeface="Space Grotesk" pitchFamily="34" charset="-120"/>
              </a:rPr>
              <a:t>A Streetlight Fault Reporting System for Citizens</a:t>
            </a:r>
            <a:endParaRPr lang="en-US" sz="2000" dirty="0">
              <a:latin typeface="Sitka Heading Semibold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782" y="3613096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[Computer Science And Engineering] · [Vijaya </a:t>
            </a:r>
            <a:r>
              <a:rPr lang="en-US" sz="1200" dirty="0" err="1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Vittala</a:t>
            </a:r>
            <a:r>
              <a:rPr lang="en-US" sz="12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Institute Of Technology] · [2026-27]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82" y="4441372"/>
            <a:ext cx="3242721" cy="1188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by:  Team - 9</a:t>
            </a:r>
          </a:p>
          <a:p>
            <a:pPr marL="0" indent="0" algn="l">
              <a:lnSpc>
                <a:spcPts val="1540"/>
              </a:lnSpc>
              <a:buNone/>
            </a:pPr>
            <a:endParaRPr lang="en-US" sz="1200" dirty="0">
              <a:solidFill>
                <a:srgbClr val="C7CDD6"/>
              </a:solidFill>
              <a:latin typeface="IBM Plex Sans" pitchFamily="34" charset="0"/>
              <a:ea typeface="IBM Plex Sans" pitchFamily="34" charset="-122"/>
              <a:cs typeface="IBM Plex Sans" pitchFamily="34" charset="-120"/>
            </a:endParaRP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[Aradhana Pradhan,   1VJ25CS006]</a:t>
            </a: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</a:rPr>
              <a:t>[        Harsh Raj,            1VJ25CS020]</a:t>
            </a: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</a:rPr>
              <a:t>[ Kumbhar Nivedita,   1VJ25CS024]</a:t>
            </a: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</a:rPr>
              <a:t>[Mohammed Mujeeb, 1VJ25CS035]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82" y="5849667"/>
            <a:ext cx="278333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Guide: [Prof. Swetha P]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90218" y="5156218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444500" y="0"/>
                </a:moveTo>
                <a:lnTo>
                  <a:pt x="444500" y="0"/>
                </a:lnTo>
                <a:arcTo wR="444500" hR="444500" stAng="16200000" swAng="5400000"/>
                <a:lnTo>
                  <a:pt x="889000" y="444500"/>
                </a:lnTo>
                <a:arcTo wR="444500" hR="444500" stAng="0" swAng="5400000"/>
                <a:lnTo>
                  <a:pt x="444500" y="889000"/>
                </a:lnTo>
                <a:arcTo wR="444500" hR="444500" stAng="5400000" swAng="5400000"/>
                <a:lnTo>
                  <a:pt x="0" y="444500"/>
                </a:lnTo>
                <a:arcTo wR="444500" hR="444500" stAng="10800000" swAng="5400000"/>
                <a:close/>
              </a:path>
            </a:pathLst>
          </a:custGeom>
          <a:solidFill>
            <a:srgbClr val="1A2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💡</a:t>
            </a:r>
            <a:endParaRPr lang="en-US" sz="3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C6E5C8-260E-2EB7-1790-83897FB43CB1}"/>
              </a:ext>
            </a:extLst>
          </p:cNvPr>
          <p:cNvSpPr/>
          <p:nvPr/>
        </p:nvSpPr>
        <p:spPr>
          <a:xfrm>
            <a:off x="812782" y="1069271"/>
            <a:ext cx="2404871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Image 6">
            <a:extLst>
              <a:ext uri="{FF2B5EF4-FFF2-40B4-BE49-F238E27FC236}">
                <a16:creationId xmlns:a16="http://schemas.microsoft.com/office/drawing/2014/main" id="{0B968181-E221-A964-FC8D-256F2F50DE80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Banner Semibold" pitchFamily="2" charset="0"/>
              </a:rPr>
              <a:t>Abstract</a:t>
            </a:r>
            <a:endParaRPr lang="en-US" sz="3200" dirty="0">
              <a:latin typeface="Sitka Banner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32501"/>
            <a:ext cx="1335195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9187" y="1837573"/>
            <a:ext cx="10137775" cy="120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is a web-based platform that lets residents report malfunctioning streetlights by submitting a photograph and their precise GPS location in a few taps. Reports are organised into trackable tickets and surfaced on a live administrator dashboard, where municipal staff can monitor every open complaint, update its status, and close the loop with the citizen who raised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82" y="3261049"/>
            <a:ext cx="10137775" cy="61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system replaces slow, untracked phone or in-person complaints with a transparent, accountable digital workflow — improving night-time public safety and citizen trust in civic maintenance.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13</a:t>
            </a:r>
            <a:endParaRPr lang="en-US" sz="1100" dirty="0"/>
          </a:p>
        </p:txBody>
      </p:sp>
      <p:pic>
        <p:nvPicPr>
          <p:cNvPr id="9" name="Image 6">
            <a:extLst>
              <a:ext uri="{FF2B5EF4-FFF2-40B4-BE49-F238E27FC236}">
                <a16:creationId xmlns:a16="http://schemas.microsoft.com/office/drawing/2014/main" id="{847EC93A-C267-3629-0312-E92480629690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96642" y="182047"/>
            <a:ext cx="1004293" cy="1004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Introduction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90890"/>
            <a:ext cx="2120200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2" y="1826166"/>
            <a:ext cx="10464800" cy="85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Streetlights are a basic civic utility — when they fail, neighbourhoods lose visibility, safety, and a sense of being looked after. Today, reporting a faulty light usually means a phone call or a visit to the ward office, with little way to know if, or when, it will be fixed.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57" y="2910013"/>
            <a:ext cx="3414171" cy="153902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47119" y="3141174"/>
            <a:ext cx="3040403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7119" y="3572867"/>
            <a:ext cx="30404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Night Safety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119" y="3862315"/>
            <a:ext cx="3040403" cy="203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Dark streets raise the risk of accidents and crime.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8824" y="2910013"/>
            <a:ext cx="3414261" cy="153902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19985" y="3141174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9985" y="3572867"/>
            <a:ext cx="30404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 Trust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9985" y="3862315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Visible follow-through builds confidence in local government.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61781" y="2910013"/>
            <a:ext cx="3414261" cy="153902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92943" y="3141174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92943" y="3572867"/>
            <a:ext cx="30404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92943" y="3862315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location and photo evidence speed up repairs.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13</a:t>
            </a:r>
            <a:endParaRPr lang="en-US" sz="1100" dirty="0"/>
          </a:p>
        </p:txBody>
      </p:sp>
      <p:pic>
        <p:nvPicPr>
          <p:cNvPr id="20" name="Image 6">
            <a:extLst>
              <a:ext uri="{FF2B5EF4-FFF2-40B4-BE49-F238E27FC236}">
                <a16:creationId xmlns:a16="http://schemas.microsoft.com/office/drawing/2014/main" id="{C9E858FB-7B52-F36D-4ED0-10A378A54DE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1861793"/>
            <a:ext cx="10883429" cy="43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D98F1F"/>
                </a:solidFill>
                <a:latin typeface="Sitka Display Semibold" pitchFamily="2" charset="0"/>
              </a:rPr>
              <a:t>Problem Statement</a:t>
            </a:r>
            <a:endParaRPr lang="en-US" sz="2800" dirty="0">
              <a:latin typeface="Sitka Display Semibol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782" y="2575447"/>
            <a:ext cx="9810750" cy="779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"Develop an application for citizens to report faulty streetlights using photographs and GPS locations."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782" y="3634653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structured channel exists for citizens to submit complaints with photographic evidence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3949627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Citizens have no way to track the status of a complaint once it is filed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2" y="4264602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Administrators lack a centralised, real-time view of all open faults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82" y="4579576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Repairs are often delayed by vague or missing location information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13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ACA32F-1B86-4420-6C6A-FEB07B6E28B2}"/>
              </a:ext>
            </a:extLst>
          </p:cNvPr>
          <p:cNvSpPr/>
          <p:nvPr/>
        </p:nvSpPr>
        <p:spPr>
          <a:xfrm>
            <a:off x="812781" y="2288426"/>
            <a:ext cx="2913829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Image 6">
            <a:extLst>
              <a:ext uri="{FF2B5EF4-FFF2-40B4-BE49-F238E27FC236}">
                <a16:creationId xmlns:a16="http://schemas.microsoft.com/office/drawing/2014/main" id="{F09051D3-8116-899F-4528-5E29D901FE7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Heading Semibold" pitchFamily="2" charset="0"/>
              </a:rPr>
              <a:t>Objectives</a:t>
            </a:r>
            <a:endParaRPr lang="en-US" sz="3200" dirty="0">
              <a:latin typeface="Sitka Heading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815957" y="1303765"/>
            <a:ext cx="1797847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6176" y="1754934"/>
            <a:ext cx="5308798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7436" y="1946147"/>
            <a:ext cx="274403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8F1F"/>
                </a:solidFill>
                <a:latin typeface="Sitka Heading Semibold" pitchFamily="2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>
              <a:latin typeface="Sitka Heading Semibold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0469" y="1998895"/>
            <a:ext cx="4679301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 photo + GPS based fault reporting for every citizen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49957" y="1778468"/>
            <a:ext cx="5546254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55682" y="1958848"/>
            <a:ext cx="303176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A94"/>
                </a:solidFill>
                <a:latin typeface="Sitka Heading Semibold" pitchFamily="2" charset="0"/>
              </a:rPr>
              <a:t>02</a:t>
            </a:r>
            <a:endParaRPr lang="en-US" sz="1600" dirty="0">
              <a:latin typeface="Sitka Heading Semibold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30909" y="1998895"/>
            <a:ext cx="496530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 secure, role-based logins for citizens and administrators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176" y="2495395"/>
            <a:ext cx="5308798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9882" y="2671959"/>
            <a:ext cx="306315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8F1F"/>
                </a:solidFill>
                <a:latin typeface="Sitka Heading Semibold" pitchFamily="2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>
              <a:latin typeface="Sitka Heading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01839" y="2711245"/>
            <a:ext cx="504811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Centralise every complaint on one live administrator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9957" y="2531628"/>
            <a:ext cx="5546254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55682" y="2712008"/>
            <a:ext cx="313134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A94"/>
                </a:solidFill>
                <a:latin typeface="Sitka Heading Semibold" pitchFamily="2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>
              <a:latin typeface="Sitka Heading Semibold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30909" y="2752055"/>
            <a:ext cx="4965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complaint status from submission through to resolution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76" y="3249073"/>
            <a:ext cx="5308798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12417" y="3379395"/>
            <a:ext cx="30443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8F1F"/>
                </a:solidFill>
                <a:latin typeface="Sitka Display Semibold" pitchFamily="2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600" dirty="0">
              <a:latin typeface="Sitka Display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9349" y="3429000"/>
            <a:ext cx="504811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 transparency and accountability in civic maintenance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49956" y="3284789"/>
            <a:ext cx="5546253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682" y="3465168"/>
            <a:ext cx="308805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A94"/>
                </a:solidFill>
                <a:latin typeface="Sitka Small Semibold" pitchFamily="2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600" dirty="0">
              <a:latin typeface="Sitka Small Semibold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27302" y="3505216"/>
            <a:ext cx="483852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the average turnaround time for streetlight repairs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13</a:t>
            </a:r>
            <a:endParaRPr lang="en-US" sz="1100" dirty="0"/>
          </a:p>
        </p:txBody>
      </p:sp>
      <p:pic>
        <p:nvPicPr>
          <p:cNvPr id="25" name="Image 6">
            <a:extLst>
              <a:ext uri="{FF2B5EF4-FFF2-40B4-BE49-F238E27FC236}">
                <a16:creationId xmlns:a16="http://schemas.microsoft.com/office/drawing/2014/main" id="{2736222B-1BFA-72F1-F08D-7A2F332A582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Proposed System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1" y="1333038"/>
            <a:ext cx="2939710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5957" y="1880031"/>
            <a:ext cx="3155751" cy="1567349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163564" y="2136629"/>
            <a:ext cx="460447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37741" y="2591321"/>
            <a:ext cx="1512094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Web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1093" y="2852899"/>
            <a:ext cx="2485390" cy="36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33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a fault with photo, category and GPS location; track its 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27229" y="2468110"/>
            <a:ext cx="291902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D98F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20677" y="1882629"/>
            <a:ext cx="3150646" cy="1562154"/>
          </a:xfrm>
          <a:prstGeom prst="roundRect">
            <a:avLst>
              <a:gd name="adj" fmla="val 6504"/>
            </a:avLst>
          </a:prstGeom>
          <a:solidFill>
            <a:srgbClr val="101C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65776" y="2136629"/>
            <a:ext cx="460447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☁️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1552" y="2591321"/>
            <a:ext cx="2968896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Database &amp; Photo Storage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3305" y="2852899"/>
            <a:ext cx="2485390" cy="36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33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Real-time, role-secured store for complaints, accounts and uploaded photos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23669" y="2468110"/>
            <a:ext cx="291902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2E7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0291" y="1880031"/>
            <a:ext cx="3155751" cy="1567349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567898" y="2136629"/>
            <a:ext cx="460447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🖥️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8444" y="2591321"/>
            <a:ext cx="2319446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55427" y="2852899"/>
            <a:ext cx="2485390" cy="36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33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view of every complaint; update status and add remarks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782" y="3729903"/>
            <a:ext cx="10137775" cy="482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new report syncs to the administrator dashboard instantly, and every status update syncs back to the citizen's own tracker — closing the loop without either side needing to refresh or follow up manually</a:t>
            </a:r>
            <a:r>
              <a:rPr lang="en-US" sz="12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13</a:t>
            </a:r>
            <a:endParaRPr lang="en-US" sz="1100" dirty="0"/>
          </a:p>
        </p:txBody>
      </p:sp>
      <p:pic>
        <p:nvPicPr>
          <p:cNvPr id="22" name="Image 6">
            <a:extLst>
              <a:ext uri="{FF2B5EF4-FFF2-40B4-BE49-F238E27FC236}">
                <a16:creationId xmlns:a16="http://schemas.microsoft.com/office/drawing/2014/main" id="{CE20A221-D5CB-3A83-E492-59D344EDD88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Hardware Requirements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82642"/>
            <a:ext cx="4156033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782" y="1826165"/>
            <a:ext cx="10566346" cy="2532604"/>
          </a:xfrm>
          <a:prstGeom prst="roundRect">
            <a:avLst>
              <a:gd name="adj" fmla="val 35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782" y="1826165"/>
            <a:ext cx="10566346" cy="2532604"/>
          </a:xfrm>
          <a:custGeom>
            <a:avLst/>
            <a:gdLst/>
            <a:ahLst/>
            <a:cxnLst/>
            <a:rect l="l" t="t" r="r" b="b"/>
            <a:pathLst>
              <a:path w="10566346" h="2532604">
                <a:moveTo>
                  <a:pt x="88900" y="2532604"/>
                </a:moveTo>
                <a:lnTo>
                  <a:pt x="88900" y="2532604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10477446" y="0"/>
                </a:lnTo>
                <a:arcTo wR="88900" hR="88900" stAng="16200000" swAng="5400000"/>
                <a:lnTo>
                  <a:pt x="10566346" y="88900"/>
                </a:lnTo>
                <a:arcTo wR="88900" hR="77355" stAng="0" swAng="-5400000"/>
                <a:lnTo>
                  <a:pt x="88900" y="11545"/>
                </a:lnTo>
                <a:arcTo wR="77355" hR="77355" stAng="16200000" swAng="-5400000"/>
                <a:lnTo>
                  <a:pt x="11545" y="2443704"/>
                </a:lnTo>
                <a:arcTo wR="77355" h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93667"/>
              </p:ext>
            </p:extLst>
          </p:nvPr>
        </p:nvGraphicFramePr>
        <p:xfrm>
          <a:off x="824327" y="1837710"/>
          <a:ext cx="10554800" cy="2521060"/>
        </p:xfrm>
        <a:graphic>
          <a:graphicData uri="http://schemas.openxmlformats.org/drawingml/2006/table">
            <a:tbl>
              <a:tblPr/>
              <a:tblGrid>
                <a:gridCol w="527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Citizen's smartphone or PC (camera + GPS)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Capture photo evidence and location of the fault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Administrator's desktop or laptop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Access and manage the live complaints dashboard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Internet connectivity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Required for both citizens and administrators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 server infrastructure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Hosts the application, database and uploaded photos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13</a:t>
            </a:r>
            <a:endParaRPr lang="en-US" sz="1100" dirty="0"/>
          </a:p>
        </p:txBody>
      </p:sp>
      <p:pic>
        <p:nvPicPr>
          <p:cNvPr id="10" name="Image 6">
            <a:extLst>
              <a:ext uri="{FF2B5EF4-FFF2-40B4-BE49-F238E27FC236}">
                <a16:creationId xmlns:a16="http://schemas.microsoft.com/office/drawing/2014/main" id="{E46DC315-B147-B493-01B6-D0A55FFB8A0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4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Software Requirements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769696" y="1278225"/>
            <a:ext cx="3983460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782" y="1826168"/>
            <a:ext cx="10566346" cy="3123045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782" y="1826168"/>
            <a:ext cx="10566346" cy="3123045"/>
          </a:xfrm>
          <a:custGeom>
            <a:avLst/>
            <a:gdLst/>
            <a:ahLst/>
            <a:cxnLst/>
            <a:rect l="l" t="t" r="r" b="b"/>
            <a:pathLst>
              <a:path w="10566346" h="3123045">
                <a:moveTo>
                  <a:pt x="88900" y="3123045"/>
                </a:moveTo>
                <a:lnTo>
                  <a:pt x="88900" y="3123045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10477446" y="0"/>
                </a:lnTo>
                <a:arcTo wR="88900" hR="88900" stAng="16200000" swAng="5400000"/>
                <a:lnTo>
                  <a:pt x="10566346" y="88900"/>
                </a:lnTo>
                <a:arcTo wR="88900" hR="77355" stAng="0" swAng="-5400000"/>
                <a:lnTo>
                  <a:pt x="88900" y="11545"/>
                </a:lnTo>
                <a:arcTo wR="77355" hR="77355" stAng="16200000" swAng="-5400000"/>
                <a:lnTo>
                  <a:pt x="11545" y="3034145"/>
                </a:lnTo>
                <a:arcTo wR="77355" h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428584"/>
              </p:ext>
            </p:extLst>
          </p:nvPr>
        </p:nvGraphicFramePr>
        <p:xfrm>
          <a:off x="824327" y="1837713"/>
          <a:ext cx="10554800" cy="3111500"/>
        </p:xfrm>
        <a:graphic>
          <a:graphicData uri="http://schemas.openxmlformats.org/drawingml/2006/table">
            <a:tbl>
              <a:tblPr/>
              <a:tblGrid>
                <a:gridCol w="527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Frontend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HTML5, CSS3, JavaScript (ES6)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layer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Real-time NoSQL cloud document database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 storage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 object storage for uploaded photographs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Browser APIs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Geolocation API, File / Camera API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Authentication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Role-based email &amp; password login (Citizen / Administrator)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 software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Modern web browser — Chrome, Firefox or Edge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782" y="6256105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33942" y="6256105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13</a:t>
            </a:r>
            <a:endParaRPr lang="en-US" sz="1100" dirty="0"/>
          </a:p>
        </p:txBody>
      </p:sp>
      <p:pic>
        <p:nvPicPr>
          <p:cNvPr id="10" name="Image 6">
            <a:extLst>
              <a:ext uri="{FF2B5EF4-FFF2-40B4-BE49-F238E27FC236}">
                <a16:creationId xmlns:a16="http://schemas.microsoft.com/office/drawing/2014/main" id="{7D136163-AAD6-EC30-ED5D-D6BC9523BF34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Methodology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812782" y="1298586"/>
            <a:ext cx="2278964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9814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413" y="2524485"/>
            <a:ext cx="1653237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 Gathering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7382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Literature survey &amp; stakeholder needs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6782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91746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74887" y="2524485"/>
            <a:ext cx="1040065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9314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schema &amp; UI wireframes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88714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3679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2114" y="2524485"/>
            <a:ext cx="1029566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/ UX Design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60002" y="2765673"/>
            <a:ext cx="1573790" cy="16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&amp; admin screen flows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40647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95611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8099" y="2524485"/>
            <a:ext cx="941460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43179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Frontend, database &amp; authentication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92579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47544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5751" y="2524485"/>
            <a:ext cx="510020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95112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Unit, integration &amp; user acceptance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44512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99477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3B8F6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3862" y="2524485"/>
            <a:ext cx="857575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92636" y="2765673"/>
            <a:ext cx="1620116" cy="16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&amp; user feedback loop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2782" y="3405547"/>
            <a:ext cx="10137775" cy="482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iterative, agile-inspired approach was followed, with each stage reviewed before moving to the next so that citizen and administrator needs stayed central to every design decision</a:t>
            </a:r>
            <a:r>
              <a:rPr lang="en-US" sz="11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13</a:t>
            </a:r>
            <a:endParaRPr lang="en-US" sz="1100" dirty="0"/>
          </a:p>
        </p:txBody>
      </p:sp>
      <p:pic>
        <p:nvPicPr>
          <p:cNvPr id="31" name="Image 6">
            <a:extLst>
              <a:ext uri="{FF2B5EF4-FFF2-40B4-BE49-F238E27FC236}">
                <a16:creationId xmlns:a16="http://schemas.microsoft.com/office/drawing/2014/main" id="{5CA0E8A4-806C-0C04-1620-4DBE2E5C2E4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Heading Semibold" pitchFamily="2" charset="0"/>
              </a:rPr>
              <a:t>Screenshots of Results/Outcomes</a:t>
            </a:r>
            <a:endParaRPr lang="en-US" sz="3200" dirty="0">
              <a:latin typeface="Sitka Heading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8555" y="1334771"/>
            <a:ext cx="5829011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5957" y="1778465"/>
            <a:ext cx="5187932" cy="1923184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8555" y="1784238"/>
            <a:ext cx="5182736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45555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72464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99374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96337" y="2066094"/>
            <a:ext cx="4971988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6337" y="2350579"/>
            <a:ext cx="1558276" cy="575108"/>
          </a:xfrm>
          <a:prstGeom prst="roundRect">
            <a:avLst>
              <a:gd name="adj" fmla="val 11041"/>
            </a:avLst>
          </a:prstGeom>
          <a:solidFill>
            <a:srgbClr val="F3F5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901" y="2452142"/>
            <a:ext cx="140594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Sitka Display Semibold" pitchFamily="2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300" dirty="0">
              <a:latin typeface="Sitka Display Semibold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901" y="2708579"/>
            <a:ext cx="140594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reports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630740" y="2350579"/>
            <a:ext cx="1558366" cy="575108"/>
          </a:xfrm>
          <a:prstGeom prst="roundRect">
            <a:avLst>
              <a:gd name="adj" fmla="val 11041"/>
            </a:avLst>
          </a:prstGeom>
          <a:solidFill>
            <a:srgbClr val="F3F5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32304" y="2452142"/>
            <a:ext cx="140603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Sitka Heading Semibold" pitchFamily="2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>
              <a:latin typeface="Sitka Heading Semibold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32304" y="2708579"/>
            <a:ext cx="140603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265233" y="2350579"/>
            <a:ext cx="1558276" cy="575108"/>
          </a:xfrm>
          <a:prstGeom prst="roundRect">
            <a:avLst>
              <a:gd name="adj" fmla="val 11041"/>
            </a:avLst>
          </a:prstGeom>
          <a:solidFill>
            <a:srgbClr val="F3F5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66797" y="2452142"/>
            <a:ext cx="140594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Sitka Display Semibold" pitchFamily="2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300" dirty="0">
              <a:latin typeface="Sitka Display Semibold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66797" y="2708579"/>
            <a:ext cx="140594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Resolved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999512" y="3030426"/>
            <a:ext cx="4820822" cy="487669"/>
          </a:xfrm>
          <a:prstGeom prst="roundRect">
            <a:avLst>
              <a:gd name="adj" fmla="val 12370"/>
            </a:avLst>
          </a:prstGeom>
          <a:noFill/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90955" y="3121868"/>
            <a:ext cx="304782" cy="304782"/>
          </a:xfrm>
          <a:custGeom>
            <a:avLst/>
            <a:gdLst/>
            <a:ahLst/>
            <a:cxnLst/>
            <a:rect l="l" t="t" r="r" b="b"/>
            <a:pathLst>
              <a:path w="304782" h="304782">
                <a:moveTo>
                  <a:pt x="50800" y="0"/>
                </a:moveTo>
                <a:lnTo>
                  <a:pt x="253982" y="0"/>
                </a:lnTo>
                <a:arcTo wR="50800" hR="50800" stAng="16200000" swAng="5400000"/>
                <a:lnTo>
                  <a:pt x="304782" y="253982"/>
                </a:lnTo>
                <a:arcTo wR="50800" hR="50800" stAng="0" swAng="5400000"/>
                <a:lnTo>
                  <a:pt x="50800" y="304782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F3F5F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4583" y="3139101"/>
            <a:ext cx="1584632" cy="16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CL-2026-9F3A · Flickering light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84583" y="3293883"/>
            <a:ext cx="184059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Opposite Ganesha temple, 4th Main Road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188021" y="1778465"/>
            <a:ext cx="5188022" cy="1923184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90618" y="1784238"/>
            <a:ext cx="5182827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17618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44528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571438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68400" y="2066094"/>
            <a:ext cx="4972081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 Dashboard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9946" y="2349406"/>
          <a:ext cx="4815718" cy="1052080"/>
        </p:xfrm>
        <a:graphic>
          <a:graphicData uri="http://schemas.openxmlformats.org/drawingml/2006/table">
            <a:tbl>
              <a:tblPr/>
              <a:tblGrid>
                <a:gridCol w="2407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B35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CL-2026-9F3A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Progress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B35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CL-2026-6B1D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B35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CL-2026-2A7E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Resolved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812782" y="3933391"/>
            <a:ext cx="10883429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Preview of the live application interface — citizen ticket tracking (left) and the real-time administrator complaint table (right).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13</a:t>
            </a:r>
            <a:endParaRPr lang="en-US" sz="1100" dirty="0"/>
          </a:p>
        </p:txBody>
      </p:sp>
      <p:pic>
        <p:nvPicPr>
          <p:cNvPr id="34" name="Image 6">
            <a:extLst>
              <a:ext uri="{FF2B5EF4-FFF2-40B4-BE49-F238E27FC236}">
                <a16:creationId xmlns:a16="http://schemas.microsoft.com/office/drawing/2014/main" id="{46C19DFC-A859-1417-A7B8-7CBEDEE5723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Project Timeline — Gantt Chart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812782" y="1274533"/>
            <a:ext cx="5283218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53314" y="1896328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53314" y="2068368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53314" y="2294296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53314" y="2558037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53314" y="2813686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65987" y="3063732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53314" y="3314623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7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53314" y="3564296"/>
            <a:ext cx="1155646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8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02884" y="1879166"/>
            <a:ext cx="1962150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Literature Survey &amp; Requirement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7884" y="1943838"/>
            <a:ext cx="2159000" cy="190500"/>
          </a:xfrm>
          <a:prstGeom prst="roundRect">
            <a:avLst>
              <a:gd name="adj" fmla="val 2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02884" y="2277759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7884" y="2262510"/>
            <a:ext cx="2159000" cy="190500"/>
          </a:xfrm>
          <a:prstGeom prst="roundRect">
            <a:avLst>
              <a:gd name="adj" fmla="val 2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502884" y="2531759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 Development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07884" y="2516510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502884" y="2785759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&amp; Auth 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07884" y="2770510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502884" y="3039759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 &amp; Debugging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07884" y="3024510"/>
            <a:ext cx="2159000" cy="190500"/>
          </a:xfrm>
          <a:prstGeom prst="roundRect">
            <a:avLst>
              <a:gd name="adj" fmla="val 2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502884" y="3293759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&amp; Documentation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07884" y="3278510"/>
            <a:ext cx="2184346" cy="190500"/>
          </a:xfrm>
          <a:prstGeom prst="roundRect">
            <a:avLst>
              <a:gd name="adj" fmla="val 2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502884" y="3547759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Presentation Prep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07884" y="3532510"/>
            <a:ext cx="1104846" cy="190500"/>
          </a:xfrm>
          <a:prstGeom prst="roundRect">
            <a:avLst>
              <a:gd name="adj" fmla="val 20000"/>
            </a:avLst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494266" y="3892166"/>
            <a:ext cx="6440181" cy="258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Indicative 8-week schedule for the Community-Based Project Learning cycle.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13</a:t>
            </a:r>
            <a:endParaRPr lang="en-US" sz="1100" dirty="0"/>
          </a:p>
        </p:txBody>
      </p:sp>
      <p:pic>
        <p:nvPicPr>
          <p:cNvPr id="30" name="Image 6">
            <a:extLst>
              <a:ext uri="{FF2B5EF4-FFF2-40B4-BE49-F238E27FC236}">
                <a16:creationId xmlns:a16="http://schemas.microsoft.com/office/drawing/2014/main" id="{C6A86FC9-7FAE-FF09-AE92-67B91F9E0639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Conclusion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33110"/>
            <a:ext cx="1844154" cy="45719"/>
          </a:xfrm>
          <a:prstGeom prst="rect">
            <a:avLst/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2" y="1826165"/>
            <a:ext cx="10464800" cy="85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successfully bridges the gap between citizens and municipal administrators for streetlight maintenance. By combining photo evidence, GPS geotagging and a live tracking workflow, it replaces an opaque, manual process with one that is fast, transparent and accountable — directly improving night-time safety across a ward.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2906837"/>
            <a:ext cx="10883429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2" y="3153259"/>
            <a:ext cx="1088342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SMS / email alerts to citizens at each status change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82" y="3412313"/>
            <a:ext cx="1088342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dashboard to identify recurring fault hotspots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82" y="3671360"/>
            <a:ext cx="1088342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with IoT light sensors for automatic fault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13</a:t>
            </a:r>
            <a:endParaRPr lang="en-US" sz="1100" dirty="0"/>
          </a:p>
        </p:txBody>
      </p:sp>
      <p:pic>
        <p:nvPicPr>
          <p:cNvPr id="12" name="Image 6">
            <a:extLst>
              <a:ext uri="{FF2B5EF4-FFF2-40B4-BE49-F238E27FC236}">
                <a16:creationId xmlns:a16="http://schemas.microsoft.com/office/drawing/2014/main" id="{70EE3571-5DEF-643C-D504-9B42A924621E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Heading Semibold" pitchFamily="2" charset="0"/>
              </a:rPr>
              <a:t>References</a:t>
            </a:r>
            <a:endParaRPr lang="en-US" sz="3200" dirty="0">
              <a:latin typeface="Sitka Heading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3" y="1282641"/>
            <a:ext cx="1887286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2" y="1775290"/>
            <a:ext cx="10464800" cy="147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Mozilla Developer Network — "Geolocation API," MDN Web Docs.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W3C — "Geolocation API Specification," World Wide Web Consortium.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Maheswaran, S. et al. — "Centralized Monitoring System: Street Light Fault Detection and Location Tracking for Smart City," ICECCC, IEEE, 2024.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Varghese, L.J. et al. — "Energy-Efficient Smart Street Lighting with Fault Detection and Real-Time Monitoring," ICICT, IEEE, 2025.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Chowdhury, A.T.M.M.M. et al. — "IoT-Based Streetlight Controlling, Monitoring and Real-Time Error Detection System for Smart Cities," ECCE, 2023.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Shama, F., Aziz, A., Deya, L.B.M. — "</a:t>
            </a:r>
            <a:r>
              <a:rPr lang="en-IN" sz="1400" dirty="0" err="1"/>
              <a:t>CitySolution</a:t>
            </a:r>
            <a:r>
              <a:rPr lang="en-IN" sz="1400" dirty="0"/>
              <a:t>: A Complaining Task Distributive Mobile App for Smart City Corporations Using Deep Learning," arXiv:2410.12882, 2024.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 err="1"/>
              <a:t>Bruhat</a:t>
            </a:r>
            <a:r>
              <a:rPr lang="en-IN" sz="1400" dirty="0"/>
              <a:t> Bengaluru </a:t>
            </a:r>
            <a:r>
              <a:rPr lang="en-IN" sz="1400" dirty="0" err="1"/>
              <a:t>Mahanagara</a:t>
            </a:r>
            <a:r>
              <a:rPr lang="en-IN" sz="1400" dirty="0"/>
              <a:t> </a:t>
            </a:r>
            <a:r>
              <a:rPr lang="en-IN" sz="1400" dirty="0" err="1"/>
              <a:t>Palike</a:t>
            </a:r>
            <a:r>
              <a:rPr lang="en-IN" sz="1400" dirty="0"/>
              <a:t> (BBMP) — "</a:t>
            </a:r>
            <a:r>
              <a:rPr lang="en-IN" sz="1400" dirty="0" err="1"/>
              <a:t>Sahaaya</a:t>
            </a:r>
            <a:r>
              <a:rPr lang="en-IN" sz="1400" dirty="0"/>
              <a:t>: Citizen Grievance Redressal Portal," bbmp.sahaaya.in.</a:t>
            </a:r>
          </a:p>
          <a:p>
            <a:pPr marL="182880" indent="-182880" algn="l">
              <a:lnSpc>
                <a:spcPts val="2280"/>
              </a:lnSpc>
              <a:buSzPct val="100000"/>
              <a:buFontTx/>
              <a:buAutoNum type="arabicPeriod"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13</a:t>
            </a:r>
            <a:endParaRPr lang="en-US" sz="1100" dirty="0"/>
          </a:p>
        </p:txBody>
      </p:sp>
      <p:pic>
        <p:nvPicPr>
          <p:cNvPr id="8" name="Image 6">
            <a:extLst>
              <a:ext uri="{FF2B5EF4-FFF2-40B4-BE49-F238E27FC236}">
                <a16:creationId xmlns:a16="http://schemas.microsoft.com/office/drawing/2014/main" id="{8019F88C-ED44-8580-E80B-16CD3AC3D16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59661" y="183147"/>
            <a:ext cx="1036550" cy="10331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vicLight — Streetlight Fault Reporting System">
  <a:themeElements>
    <a:clrScheme name="CivicLight — Streetlight Fault Reporting System">
      <a:dk1>
        <a:srgbClr val="15202B"/>
      </a:dk1>
      <a:lt1>
        <a:srgbClr val="F3F5F3"/>
      </a:lt1>
      <a:dk2>
        <a:srgbClr val="4D555D"/>
      </a:dk2>
      <a:lt2>
        <a:srgbClr val="DDE0DF"/>
      </a:lt2>
      <a:accent1>
        <a:srgbClr val="D98F1F"/>
      </a:accent1>
      <a:accent2>
        <a:srgbClr val="2E7A94"/>
      </a:accent2>
      <a:accent3>
        <a:srgbClr val="3B8F63"/>
      </a:accent3>
      <a:accent4>
        <a:srgbClr val="5B6670"/>
      </a:accent4>
      <a:accent5>
        <a:srgbClr val="C7CDD6"/>
      </a:accent5>
      <a:accent6>
        <a:srgbClr val="9AA4B2"/>
      </a:accent6>
      <a:hlink>
        <a:srgbClr val="0563C1"/>
      </a:hlink>
      <a:folHlink>
        <a:srgbClr val="954F72"/>
      </a:folHlink>
    </a:clrScheme>
    <a:fontScheme name="CivicLight — Streetlight Fault Reporting System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1167</Words>
  <Application>Microsoft Office PowerPoint</Application>
  <PresentationFormat>Widescreen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IBM Plex Sans</vt:lpstr>
      <vt:lpstr>Sitka Banner Semibold</vt:lpstr>
      <vt:lpstr>Sitka Display Semibold</vt:lpstr>
      <vt:lpstr>Sitka Heading</vt:lpstr>
      <vt:lpstr>Sitka Heading Semibold</vt:lpstr>
      <vt:lpstr>Sitka Small Semibold</vt:lpstr>
      <vt:lpstr>Space Grotesk</vt:lpstr>
      <vt:lpstr>CivicLight — Streetlight Fault Reporting System</vt:lpstr>
      <vt:lpstr>CivicLight</vt:lpstr>
      <vt:lpstr>Abstract</vt:lpstr>
      <vt:lpstr>Introduction</vt:lpstr>
      <vt:lpstr>Problem Statement</vt:lpstr>
      <vt:lpstr>Objectives</vt:lpstr>
      <vt:lpstr>Proposed System</vt:lpstr>
      <vt:lpstr>Hardware Requirements</vt:lpstr>
      <vt:lpstr>Software Requirements</vt:lpstr>
      <vt:lpstr>Methodology</vt:lpstr>
      <vt:lpstr>Screenshots of Results/Outcomes</vt:lpstr>
      <vt:lpstr>Project Timeline — Gantt Chart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CivicLight — Streetlight Fault Reporting System</dc:title>
  <dc:subject/>
  <dc:creator/>
  <cp:lastModifiedBy>Harsh Raj</cp:lastModifiedBy>
  <cp:revision>50</cp:revision>
  <cp:lastPrinted>2026-10-07T08:32:15Z</cp:lastPrinted>
  <dcterms:created xsi:type="dcterms:W3CDTF">2026-10-07T01:07:11Z</dcterms:created>
  <dcterms:modified xsi:type="dcterms:W3CDTF">2026-10-08T02:18:17Z</dcterms:modified>
</cp:coreProperties>
</file>