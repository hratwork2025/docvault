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9926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56643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52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2" y="1584902"/>
            <a:ext cx="10566418" cy="446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566436" cy="46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200" dirty="0">
                <a:solidFill>
                  <a:srgbClr val="152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2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782" y="1584902"/>
            <a:ext cx="10566418" cy="44602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782" y="812782"/>
            <a:ext cx="10883429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D98F1F"/>
                </a:solidFill>
                <a:latin typeface="Sitka Banner Semibold" pitchFamily="2" charset="0"/>
                <a:ea typeface="Space Grotesk" pitchFamily="34" charset="-122"/>
                <a:cs typeface="Space Grotesk" pitchFamily="34" charset="-120"/>
              </a:rPr>
              <a:t>COMMUNITY-BASED PROJECT LEARNING</a:t>
            </a:r>
            <a:endParaRPr lang="en-US" sz="1300" dirty="0">
              <a:latin typeface="Sitka Banner Semibold" pitchFamily="2" charset="0"/>
            </a:endParaRPr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782" y="2373583"/>
            <a:ext cx="10883429" cy="718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60"/>
              </a:lnSpc>
              <a:buNone/>
            </a:pPr>
            <a:r>
              <a:rPr lang="en-US" sz="5200" b="1" i="0" dirty="0">
                <a:solidFill>
                  <a:srgbClr val="F2F0EA"/>
                </a:solidFill>
                <a:latin typeface="Sitka Heading" pitchFamily="2" charset="0"/>
              </a:rPr>
              <a:t>CivicLight</a:t>
            </a:r>
            <a:endParaRPr lang="en-US" sz="5200" dirty="0">
              <a:latin typeface="Sitka Heading" pitchFamily="2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812782" y="3194032"/>
            <a:ext cx="10883429" cy="317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2000" dirty="0">
                <a:solidFill>
                  <a:srgbClr val="C7CDD6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Streetlight Fault Reporting System for Citizens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782" y="3613096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[Computer Science And Engineering] · [Vijaya </a:t>
            </a:r>
            <a:r>
              <a:rPr lang="en-US" sz="1200" dirty="0" err="1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Vittala</a:t>
            </a:r>
            <a:r>
              <a:rPr lang="en-US" sz="12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Institute Of Technology] · [2026-27]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12782" y="4600692"/>
            <a:ext cx="3242721" cy="979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Presented by:</a:t>
            </a:r>
          </a:p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[Aradhana Pradhan,   1VJ25CS006]</a:t>
            </a:r>
          </a:p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</a:rPr>
              <a:t>[        Harsh Raj,            1VJ25CS020]</a:t>
            </a:r>
          </a:p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</a:rPr>
              <a:t>[ Kumbhar Nivedita,   1VJ25CS024]</a:t>
            </a:r>
          </a:p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</a:rPr>
              <a:t>[Mohammed Mujeeb, 1VJ25CS035]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82" y="5849667"/>
            <a:ext cx="278333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Guide: [Prof. Swetha P]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490218" y="5156218"/>
            <a:ext cx="889000" cy="889000"/>
          </a:xfrm>
          <a:custGeom>
            <a:avLst/>
            <a:gdLst/>
            <a:ahLst/>
            <a:cxnLst/>
            <a:rect l="l" t="t" r="r" b="b"/>
            <a:pathLst>
              <a:path w="889000" h="889000">
                <a:moveTo>
                  <a:pt x="444500" y="0"/>
                </a:moveTo>
                <a:lnTo>
                  <a:pt x="444500" y="0"/>
                </a:lnTo>
                <a:arcTo wR="444500" hR="444500" stAng="16200000" swAng="5400000"/>
                <a:lnTo>
                  <a:pt x="889000" y="444500"/>
                </a:lnTo>
                <a:arcTo wR="444500" hR="444500" stAng="0" swAng="5400000"/>
                <a:lnTo>
                  <a:pt x="444500" y="889000"/>
                </a:lnTo>
                <a:arcTo wR="444500" hR="444500" stAng="5400000" swAng="5400000"/>
                <a:lnTo>
                  <a:pt x="0" y="444500"/>
                </a:lnTo>
                <a:arcTo wR="444500" hR="444500" stAng="10800000" swAng="5400000"/>
                <a:close/>
              </a:path>
            </a:pathLst>
          </a:custGeom>
          <a:solidFill>
            <a:srgbClr val="1A2A3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448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💡</a:t>
            </a:r>
            <a:endParaRPr lang="en-US" sz="32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9C6E5C8-260E-2EB7-1790-83897FB43CB1}"/>
              </a:ext>
            </a:extLst>
          </p:cNvPr>
          <p:cNvSpPr/>
          <p:nvPr/>
        </p:nvSpPr>
        <p:spPr>
          <a:xfrm>
            <a:off x="812782" y="1069271"/>
            <a:ext cx="2844818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Banner Semibold" pitchFamily="2" charset="0"/>
              </a:rPr>
              <a:t>Abstract</a:t>
            </a:r>
            <a:endParaRPr lang="en-US" sz="3200" dirty="0">
              <a:latin typeface="Sitka Banner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2" y="1232501"/>
            <a:ext cx="1335195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49187" y="1837573"/>
            <a:ext cx="10137775" cy="12062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6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is a web-based platform that lets residents report malfunctioning streetlights by submitting a photograph and their precise GPS location in a few taps. Reports are organised into trackable tickets and surfaced on a live administrator dashboard, where municipal staff can monitor every open complaint, update its status, and close the loop with the citizen who raised it.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12782" y="3261049"/>
            <a:ext cx="10137775" cy="615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6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system replaces slow, untracked phone or in-person complaints with a transparent, accountable digital workflow — improving night-time public safety and citizen trust in civic maintenance.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 / 13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Introduction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2" y="1290890"/>
            <a:ext cx="2120200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2" y="1826166"/>
            <a:ext cx="10464800" cy="85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Streetlights are a basic civic utility — when they fail, neighbourhoods lose visibility, safety, and a sense of being looked after. Today, reporting a faulty light usually means a phone call or a visit to the ward office, with little way to know if, or when, it will be fixed.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5957" y="2910013"/>
            <a:ext cx="3414171" cy="153902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1047119" y="3141174"/>
            <a:ext cx="3040403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🌙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47119" y="3572867"/>
            <a:ext cx="30404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Night Safety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47119" y="3862315"/>
            <a:ext cx="3040403" cy="2031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Dark streets raise the risk of accidents and crime.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388824" y="2910013"/>
            <a:ext cx="3414261" cy="153902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19985" y="3141174"/>
            <a:ext cx="3040496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🤝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619985" y="3572867"/>
            <a:ext cx="30404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 Trust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19985" y="3862315"/>
            <a:ext cx="3040496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Visible follow-through builds confidence in local government.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961781" y="2910013"/>
            <a:ext cx="3414261" cy="1539027"/>
          </a:xfrm>
          <a:prstGeom prst="roundRect">
            <a:avLst>
              <a:gd name="adj" fmla="val 6395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92943" y="3141174"/>
            <a:ext cx="3040496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⚡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192943" y="3572867"/>
            <a:ext cx="30404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Faster Response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192943" y="3862315"/>
            <a:ext cx="3040496" cy="3809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Exact location and photo evidence speed up repairs.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 / 13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01C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1861793"/>
            <a:ext cx="10883429" cy="4342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D98F1F"/>
                </a:solidFill>
                <a:latin typeface="Sitka Display Semibold" pitchFamily="2" charset="0"/>
              </a:rPr>
              <a:t>Problem Statement</a:t>
            </a:r>
            <a:endParaRPr lang="en-US" sz="2800" dirty="0">
              <a:latin typeface="Sitka Display Semibold" pitchFamily="2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812782" y="2575447"/>
            <a:ext cx="9810750" cy="779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"Develop an application for citizens to report faulty streetlights using photographs and GPS locations."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12782" y="3634653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4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 structured channel exists for citizens to submit complaints with photographic evidence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3949627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4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Citizens have no way to track the status of a complaint once it is filed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2" y="4264602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4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Administrators lack a centralised, real-time view of all open faults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12782" y="4579576"/>
            <a:ext cx="10883429" cy="2388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4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Repairs are often delayed by vague or missing location information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 / 13</a:t>
            </a:r>
            <a:endParaRPr lang="en-US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AACA32F-1B86-4420-6C6A-FEB07B6E28B2}"/>
              </a:ext>
            </a:extLst>
          </p:cNvPr>
          <p:cNvSpPr/>
          <p:nvPr/>
        </p:nvSpPr>
        <p:spPr>
          <a:xfrm>
            <a:off x="812781" y="2288426"/>
            <a:ext cx="2913829" cy="4571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Heading Semibold" pitchFamily="2" charset="0"/>
              </a:rPr>
              <a:t>Objectives</a:t>
            </a:r>
            <a:endParaRPr lang="en-US" sz="3200" dirty="0">
              <a:latin typeface="Sitka Heading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815957" y="1303765"/>
            <a:ext cx="1797847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26176" y="1754934"/>
            <a:ext cx="5308798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827436" y="1946147"/>
            <a:ext cx="274403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8F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40469" y="1998895"/>
            <a:ext cx="4679301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Enable photo + GPS based fault reporting for every citizen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49957" y="1778468"/>
            <a:ext cx="5546254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6355682" y="1958848"/>
            <a:ext cx="303176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A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30909" y="1998895"/>
            <a:ext cx="496530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Provide secure, role-based logins for citizens and administrators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176" y="2495395"/>
            <a:ext cx="5308798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819882" y="2671959"/>
            <a:ext cx="306315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8F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01839" y="2711245"/>
            <a:ext cx="5048118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Centralise every complaint on one live administrator dashboard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49957" y="2531628"/>
            <a:ext cx="5546254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355682" y="2712008"/>
            <a:ext cx="313134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A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30909" y="2752055"/>
            <a:ext cx="4965300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Track complaint status from submission through to resolution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6176" y="3249073"/>
            <a:ext cx="5308798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812417" y="3379395"/>
            <a:ext cx="304439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D98F1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89349" y="3429000"/>
            <a:ext cx="5048118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Improve transparency and accountability in civic maintenance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149956" y="3284789"/>
            <a:ext cx="5546253" cy="645247"/>
          </a:xfrm>
          <a:prstGeom prst="roundRect">
            <a:avLst>
              <a:gd name="adj" fmla="val 13286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355682" y="3465168"/>
            <a:ext cx="308805" cy="3098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2E7A9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06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7302" y="3505216"/>
            <a:ext cx="4838522" cy="229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610"/>
              </a:lnSpc>
              <a:buNone/>
            </a:pPr>
            <a:r>
              <a:rPr lang="en-US" sz="13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Reduce the average turnaround time for streetlight repairs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 / 13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Proposed System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1" y="1333038"/>
            <a:ext cx="2939710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5957" y="1880031"/>
            <a:ext cx="3155751" cy="1567349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2163564" y="2136629"/>
            <a:ext cx="460447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📱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37741" y="2591321"/>
            <a:ext cx="1512094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Web App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51093" y="2852899"/>
            <a:ext cx="2485390" cy="36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33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Report a fault with photo, category and GPS location; track its 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27229" y="2468110"/>
            <a:ext cx="291902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D98F1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520677" y="1882629"/>
            <a:ext cx="3150646" cy="1562154"/>
          </a:xfrm>
          <a:prstGeom prst="roundRect">
            <a:avLst>
              <a:gd name="adj" fmla="val 6504"/>
            </a:avLst>
          </a:prstGeom>
          <a:solidFill>
            <a:srgbClr val="101C2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865776" y="2136629"/>
            <a:ext cx="460447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☁️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1552" y="2591321"/>
            <a:ext cx="2968896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F2F0EA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Cloud Database &amp; Photo Storage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53305" y="2852899"/>
            <a:ext cx="2485390" cy="36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330"/>
              </a:lnSpc>
              <a:buNone/>
            </a:pPr>
            <a:r>
              <a:rPr lang="en-US" sz="1100" dirty="0">
                <a:solidFill>
                  <a:srgbClr val="C7CDD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Real-time, role-secured store for complaints, accounts and uploaded photos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823669" y="2468110"/>
            <a:ext cx="291902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dirty="0">
                <a:solidFill>
                  <a:srgbClr val="2E7A9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8220291" y="1880031"/>
            <a:ext cx="3155751" cy="1567349"/>
          </a:xfrm>
          <a:prstGeom prst="roundRect">
            <a:avLst>
              <a:gd name="adj" fmla="val 6280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567898" y="2136629"/>
            <a:ext cx="460447" cy="416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🖥️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38444" y="2591321"/>
            <a:ext cx="2319446" cy="2234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56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 Dashboard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555427" y="2852899"/>
            <a:ext cx="2485390" cy="3632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33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Live view of every complaint; update status and add remarks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12782" y="3729903"/>
            <a:ext cx="10137775" cy="482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new report syncs to the administrator dashboard instantly, and every status update syncs back to the citizen's own tracker — closing the loop without either side needing to refresh or follow up manually</a:t>
            </a:r>
            <a:r>
              <a:rPr lang="en-US" sz="12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 / 13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Hardware Requirements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2" y="1282642"/>
            <a:ext cx="4156033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782" y="1826165"/>
            <a:ext cx="10566346" cy="2532604"/>
          </a:xfrm>
          <a:prstGeom prst="roundRect">
            <a:avLst>
              <a:gd name="adj" fmla="val 3510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782" y="1826165"/>
            <a:ext cx="10566346" cy="2532604"/>
          </a:xfrm>
          <a:custGeom>
            <a:avLst/>
            <a:gdLst/>
            <a:ahLst/>
            <a:cxnLst/>
            <a:rect l="l" t="t" r="r" b="b"/>
            <a:pathLst>
              <a:path w="10566346" h="2532604">
                <a:moveTo>
                  <a:pt x="88900" y="2532604"/>
                </a:moveTo>
                <a:lnTo>
                  <a:pt x="88900" y="2532604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10477446" y="0"/>
                </a:lnTo>
                <a:arcTo wR="88900" hR="88900" stAng="16200000" swAng="5400000"/>
                <a:lnTo>
                  <a:pt x="10566346" y="88900"/>
                </a:lnTo>
                <a:arcTo wR="88900" hR="77355" stAng="0" swAng="-5400000"/>
                <a:lnTo>
                  <a:pt x="88900" y="11545"/>
                </a:lnTo>
                <a:arcTo wR="77355" hR="77355" stAng="16200000" swAng="-5400000"/>
                <a:lnTo>
                  <a:pt x="11545" y="2443704"/>
                </a:lnTo>
                <a:arcTo wR="77355" h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9693667"/>
              </p:ext>
            </p:extLst>
          </p:nvPr>
        </p:nvGraphicFramePr>
        <p:xfrm>
          <a:off x="824327" y="1837710"/>
          <a:ext cx="10554800" cy="2521060"/>
        </p:xfrm>
        <a:graphic>
          <a:graphicData uri="http://schemas.openxmlformats.org/drawingml/2006/table">
            <a:tbl>
              <a:tblPr/>
              <a:tblGrid>
                <a:gridCol w="527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Component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Purpose</a:t>
                      </a:r>
                      <a:endParaRPr lang="en-US" sz="12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Citizen's smartphone or PC (camera + GPS)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Capture photo evidence and location of the fault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Administrator's desktop or laptop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Access and manage the live complaints dashboard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Internet connectivity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Required for both citizens and administrators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4212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 server infrastructure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Hosts the application, database and uploaded photos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39700" marB="1397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 / 13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4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Software Requirements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769696" y="1278225"/>
            <a:ext cx="3983460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2782" y="1826168"/>
            <a:ext cx="10566346" cy="3123045"/>
          </a:xfrm>
          <a:prstGeom prst="roundRect">
            <a:avLst>
              <a:gd name="adj" fmla="val 2847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2782" y="1826168"/>
            <a:ext cx="10566346" cy="3123045"/>
          </a:xfrm>
          <a:custGeom>
            <a:avLst/>
            <a:gdLst/>
            <a:ahLst/>
            <a:cxnLst/>
            <a:rect l="l" t="t" r="r" b="b"/>
            <a:pathLst>
              <a:path w="10566346" h="3123045">
                <a:moveTo>
                  <a:pt x="88900" y="3123045"/>
                </a:moveTo>
                <a:lnTo>
                  <a:pt x="88900" y="3123045"/>
                </a:lnTo>
                <a:arcTo wR="88900" hR="88900" stAng="5400000" swAng="5400000"/>
                <a:lnTo>
                  <a:pt x="0" y="88900"/>
                </a:lnTo>
                <a:arcTo wR="88900" hR="88900" stAng="10800000" swAng="5400000"/>
                <a:lnTo>
                  <a:pt x="10477446" y="0"/>
                </a:lnTo>
                <a:arcTo wR="88900" hR="88900" stAng="16200000" swAng="5400000"/>
                <a:lnTo>
                  <a:pt x="10566346" y="88900"/>
                </a:lnTo>
                <a:arcTo wR="88900" hR="77355" stAng="0" swAng="-5400000"/>
                <a:lnTo>
                  <a:pt x="88900" y="11545"/>
                </a:lnTo>
                <a:arcTo wR="77355" hR="77355" stAng="16200000" swAng="-5400000"/>
                <a:lnTo>
                  <a:pt x="11545" y="3034145"/>
                </a:lnTo>
                <a:arcTo wR="77355" hR="88900" stAng="10800000" swAng="-5400000"/>
                <a:close/>
              </a:path>
            </a:pathLst>
          </a:custGeom>
          <a:solidFill>
            <a:srgbClr val="141413">
              <a:alpha val="22000"/>
            </a:srgbClr>
          </a:solidFill>
          <a:ln/>
        </p:spPr>
        <p:txBody>
          <a:bodyPr/>
          <a:lstStyle/>
          <a:p>
            <a:endParaRPr lang="en-I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8428584"/>
              </p:ext>
            </p:extLst>
          </p:nvPr>
        </p:nvGraphicFramePr>
        <p:xfrm>
          <a:off x="824327" y="1837713"/>
          <a:ext cx="10554800" cy="3111500"/>
        </p:xfrm>
        <a:graphic>
          <a:graphicData uri="http://schemas.openxmlformats.org/drawingml/2006/table">
            <a:tbl>
              <a:tblPr/>
              <a:tblGrid>
                <a:gridCol w="527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7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Layer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150" b="1" dirty="0">
                          <a:solidFill>
                            <a:srgbClr val="F2F0EA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Technology</a:t>
                      </a:r>
                      <a:endParaRPr lang="en-US" sz="11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noFill/>
                    </a:lnT>
                    <a:lnB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1C2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Frontend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HTML5, CSS3, JavaScript (ES6)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11A2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Data layer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Real-time NoSQL cloud document database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Media storage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Cloud object storage for uploaded photographs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Browser APIs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Geolocation API, File / Camera API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Authentication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Role-based email &amp; password login (Citizen / Administrator)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Client software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0" cap="flat" cmpd="sng" algn="ctr">
                      <a:noFill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10"/>
                        </a:lnSpc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Modern web browser — Chrome, Firefox or Edge</a:t>
                      </a:r>
                      <a:endParaRPr lang="en-US" sz="1200" dirty="0">
                        <a:solidFill>
                          <a:schemeClr val="tx1"/>
                        </a:solidFill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177800" marR="177800" marT="114300" marB="1143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12782" y="6256105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0933942" y="6256105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 / 13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Methodology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812782" y="1298586"/>
            <a:ext cx="2278964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339814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16413" y="2524485"/>
            <a:ext cx="1653237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Requirement Gathering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87382" y="2765673"/>
            <a:ext cx="1511300" cy="30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Literature survey &amp; stakeholder needs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336782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091746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2E7A9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74887" y="2524485"/>
            <a:ext cx="1040065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Design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39314" y="2765673"/>
            <a:ext cx="1511300" cy="30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schema &amp; UI wireframes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088714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843679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32114" y="2524485"/>
            <a:ext cx="1029566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UI / UX Design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60002" y="2765673"/>
            <a:ext cx="1573790" cy="16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&amp; admin screen flows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40647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595611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2E7A94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28099" y="2524485"/>
            <a:ext cx="941460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Development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43179" y="2765673"/>
            <a:ext cx="1511300" cy="30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Frontend, database &amp; authentication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592579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347544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295751" y="2524485"/>
            <a:ext cx="510020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95112" y="2765673"/>
            <a:ext cx="1511300" cy="30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Unit, integration &amp; user acceptance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344512" y="2029290"/>
            <a:ext cx="215233" cy="292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100" dirty="0">
                <a:solidFill>
                  <a:srgbClr val="9AA4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0099477" y="2029290"/>
            <a:ext cx="406346" cy="406346"/>
          </a:xfrm>
          <a:prstGeom prst="roundRect">
            <a:avLst>
              <a:gd name="adj" fmla="val 50000"/>
            </a:avLst>
          </a:prstGeom>
          <a:solidFill>
            <a:srgbClr val="3B8F6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6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873862" y="2524485"/>
            <a:ext cx="857575" cy="1777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492636" y="2765673"/>
            <a:ext cx="1620116" cy="16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ctr">
              <a:lnSpc>
                <a:spcPts val="112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Release &amp; user feedback loop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12782" y="3405547"/>
            <a:ext cx="10137775" cy="4827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iterative, agile-inspired approach was followed, with each stage reviewed before moving to the next so that citizen and administrator needs stayed central to every design decision</a:t>
            </a:r>
            <a:r>
              <a:rPr lang="en-US" sz="11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0933942" y="6256102"/>
            <a:ext cx="445186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 / 13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Heading Semibold" pitchFamily="2" charset="0"/>
              </a:rPr>
              <a:t>Screenshots of Results/Outcomes</a:t>
            </a:r>
            <a:endParaRPr lang="en-US" sz="3200" dirty="0">
              <a:latin typeface="Sitka Heading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8555" y="1334771"/>
            <a:ext cx="5829011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815957" y="1778465"/>
            <a:ext cx="5187932" cy="1923184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818555" y="1784238"/>
            <a:ext cx="5182736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945555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072464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199374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3B8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996337" y="2066094"/>
            <a:ext cx="4971988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Citizen Dashboard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96337" y="2350579"/>
            <a:ext cx="1558276" cy="575108"/>
          </a:xfrm>
          <a:prstGeom prst="roundRect">
            <a:avLst>
              <a:gd name="adj" fmla="val 11041"/>
            </a:avLst>
          </a:prstGeom>
          <a:solidFill>
            <a:srgbClr val="F3F5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097901" y="2452142"/>
            <a:ext cx="1405948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7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901" y="2708579"/>
            <a:ext cx="1405948" cy="14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Total reports</a:t>
            </a:r>
            <a:endParaRPr lang="en-US" sz="650" dirty="0"/>
          </a:p>
        </p:txBody>
      </p:sp>
      <p:sp>
        <p:nvSpPr>
          <p:cNvPr id="13" name="Shape 11"/>
          <p:cNvSpPr/>
          <p:nvPr/>
        </p:nvSpPr>
        <p:spPr>
          <a:xfrm>
            <a:off x="2630740" y="2350579"/>
            <a:ext cx="1558366" cy="575108"/>
          </a:xfrm>
          <a:prstGeom prst="roundRect">
            <a:avLst>
              <a:gd name="adj" fmla="val 11041"/>
            </a:avLst>
          </a:prstGeom>
          <a:solidFill>
            <a:srgbClr val="F3F5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732304" y="2452142"/>
            <a:ext cx="1406038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732304" y="2708579"/>
            <a:ext cx="1406038" cy="14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 progress</a:t>
            </a:r>
            <a:endParaRPr lang="en-US" sz="650" dirty="0"/>
          </a:p>
        </p:txBody>
      </p:sp>
      <p:sp>
        <p:nvSpPr>
          <p:cNvPr id="16" name="Shape 14"/>
          <p:cNvSpPr/>
          <p:nvPr/>
        </p:nvSpPr>
        <p:spPr>
          <a:xfrm>
            <a:off x="4265233" y="2350579"/>
            <a:ext cx="1558276" cy="575108"/>
          </a:xfrm>
          <a:prstGeom prst="roundRect">
            <a:avLst>
              <a:gd name="adj" fmla="val 11041"/>
            </a:avLst>
          </a:prstGeom>
          <a:solidFill>
            <a:srgbClr val="F3F5F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366797" y="2452142"/>
            <a:ext cx="1405948" cy="2564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5202B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366797" y="2708579"/>
            <a:ext cx="1405948" cy="14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Resolved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999512" y="3030426"/>
            <a:ext cx="4820822" cy="487669"/>
          </a:xfrm>
          <a:prstGeom prst="roundRect">
            <a:avLst>
              <a:gd name="adj" fmla="val 12370"/>
            </a:avLst>
          </a:prstGeom>
          <a:noFill/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1090955" y="3121868"/>
            <a:ext cx="304782" cy="304782"/>
          </a:xfrm>
          <a:custGeom>
            <a:avLst/>
            <a:gdLst/>
            <a:ahLst/>
            <a:cxnLst/>
            <a:rect l="l" t="t" r="r" b="b"/>
            <a:pathLst>
              <a:path w="304782" h="304782">
                <a:moveTo>
                  <a:pt x="50800" y="0"/>
                </a:moveTo>
                <a:lnTo>
                  <a:pt x="253982" y="0"/>
                </a:lnTo>
                <a:arcTo wR="50800" hR="50800" stAng="16200000" swAng="5400000"/>
                <a:lnTo>
                  <a:pt x="304782" y="253982"/>
                </a:lnTo>
                <a:arcTo wR="50800" hR="50800" stAng="0" swAng="5400000"/>
                <a:lnTo>
                  <a:pt x="50800" y="304782"/>
                </a:lnTo>
                <a:arcTo wR="50800" hR="50800" stAng="5400000" swAng="5400000"/>
                <a:lnTo>
                  <a:pt x="0" y="50800"/>
                </a:lnTo>
                <a:arcTo wR="50800" hR="50800" stAng="10800000" swAng="5400000"/>
                <a:close/>
              </a:path>
            </a:pathLst>
          </a:custGeom>
          <a:solidFill>
            <a:srgbClr val="F3F5F3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0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💡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484583" y="3139101"/>
            <a:ext cx="1584632" cy="1675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CL-2026-9F3A · Flickering light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484583" y="3293883"/>
            <a:ext cx="1840598" cy="140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Opposite Ganesha temple, 4th Main Road</a:t>
            </a:r>
            <a:endParaRPr lang="en-US" sz="650" dirty="0"/>
          </a:p>
        </p:txBody>
      </p:sp>
      <p:sp>
        <p:nvSpPr>
          <p:cNvPr id="23" name="Shape 21"/>
          <p:cNvSpPr/>
          <p:nvPr/>
        </p:nvSpPr>
        <p:spPr>
          <a:xfrm>
            <a:off x="6188021" y="1778465"/>
            <a:ext cx="5188022" cy="1923184"/>
          </a:xfrm>
          <a:prstGeom prst="roundRect">
            <a:avLst>
              <a:gd name="adj" fmla="val 5118"/>
            </a:avLst>
          </a:prstGeom>
          <a:solidFill>
            <a:srgbClr val="FFFFFF"/>
          </a:solidFill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6190618" y="1784238"/>
            <a:ext cx="5182827" cy="0"/>
          </a:xfrm>
          <a:prstGeom prst="line">
            <a:avLst/>
          </a:prstGeom>
          <a:noFill/>
          <a:ln w="6350">
            <a:solidFill>
              <a:srgbClr val="DDE3D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6317618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6444528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6571438" y="1888399"/>
            <a:ext cx="76128" cy="76128"/>
          </a:xfrm>
          <a:prstGeom prst="roundRect">
            <a:avLst>
              <a:gd name="adj" fmla="val 50000"/>
            </a:avLst>
          </a:prstGeom>
          <a:solidFill>
            <a:srgbClr val="3B8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6368400" y="2066094"/>
            <a:ext cx="4972081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2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Administrator Dashboard</a:t>
            </a:r>
            <a:endParaRPr lang="en-US" sz="12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79946" y="2349406"/>
          <a:ext cx="4815718" cy="1052080"/>
        </p:xfrm>
        <a:graphic>
          <a:graphicData uri="http://schemas.openxmlformats.org/drawingml/2006/table">
            <a:tbl>
              <a:tblPr/>
              <a:tblGrid>
                <a:gridCol w="24078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078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63020"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Ticket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b="1" dirty="0">
                          <a:solidFill>
                            <a:srgbClr val="5B6670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Status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3020"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B35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CL-2026-9F3A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 Progress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3020"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B35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CL-2026-6B1D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3020"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2B3542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CL-2026-2A7E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980"/>
                        </a:lnSpc>
                        <a:buNone/>
                      </a:pPr>
                      <a:r>
                        <a:rPr lang="en-US" sz="700" dirty="0">
                          <a:solidFill>
                            <a:srgbClr val="15202B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Resolved</a:t>
                      </a:r>
                      <a:endParaRPr lang="en-US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3500" marR="63500" marT="63500" marB="63500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812782" y="3933391"/>
            <a:ext cx="10883429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10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Preview of the live application interface — citizen ticket tracking (left) and the real-time administrator complaint table (right).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10833388" y="6256102"/>
            <a:ext cx="54573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/ 13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Project Timeline — Gantt Chart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 flipV="1">
            <a:off x="812782" y="1274533"/>
            <a:ext cx="5283218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2717782" y="1682468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1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3511829" y="1686921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2</a:t>
            </a:r>
            <a:endParaRPr lang="en-US" sz="750" dirty="0"/>
          </a:p>
        </p:txBody>
      </p:sp>
      <p:sp>
        <p:nvSpPr>
          <p:cNvPr id="6" name="Text 4"/>
          <p:cNvSpPr/>
          <p:nvPr/>
        </p:nvSpPr>
        <p:spPr>
          <a:xfrm>
            <a:off x="4394707" y="1691182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3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180600" y="1691182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4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5973124" y="1673916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5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804147" y="1682468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6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635170" y="1691020"/>
            <a:ext cx="1130300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7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8427694" y="1705030"/>
            <a:ext cx="1155646" cy="1587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7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8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812782" y="1870540"/>
            <a:ext cx="1962150" cy="345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Literature Survey &amp; Requirement Analysis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717782" y="1935212"/>
            <a:ext cx="2159000" cy="190500"/>
          </a:xfrm>
          <a:prstGeom prst="roundRect">
            <a:avLst>
              <a:gd name="adj" fmla="val 2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812782" y="2269133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17782" y="2253884"/>
            <a:ext cx="2159000" cy="190500"/>
          </a:xfrm>
          <a:prstGeom prst="roundRect">
            <a:avLst>
              <a:gd name="adj" fmla="val 2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12782" y="2523133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Frontend Development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17782" y="2507884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812782" y="2777133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Database &amp; Auth Integration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17782" y="2761884"/>
            <a:ext cx="3238500" cy="190500"/>
          </a:xfrm>
          <a:prstGeom prst="roundRect">
            <a:avLst>
              <a:gd name="adj" fmla="val 2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812782" y="3031133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Testing &amp; Debugging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17782" y="3015884"/>
            <a:ext cx="2159000" cy="190500"/>
          </a:xfrm>
          <a:prstGeom prst="roundRect">
            <a:avLst>
              <a:gd name="adj" fmla="val 20000"/>
            </a:avLst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812782" y="3285133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Deployment &amp; Documentation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717782" y="3269884"/>
            <a:ext cx="2184346" cy="190500"/>
          </a:xfrm>
          <a:prstGeom prst="roundRect">
            <a:avLst>
              <a:gd name="adj" fmla="val 20000"/>
            </a:avLst>
          </a:prstGeom>
          <a:solidFill>
            <a:srgbClr val="2E7A94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812782" y="3539133"/>
            <a:ext cx="1962150" cy="185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260"/>
              </a:lnSpc>
              <a:buNone/>
            </a:pPr>
            <a:r>
              <a:rPr lang="en-US" sz="900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Final Presentation Prep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17782" y="3523884"/>
            <a:ext cx="1104846" cy="190500"/>
          </a:xfrm>
          <a:prstGeom prst="roundRect">
            <a:avLst>
              <a:gd name="adj" fmla="val 20000"/>
            </a:avLst>
          </a:prstGeom>
          <a:solidFill>
            <a:srgbClr val="3B8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812782" y="3892166"/>
            <a:ext cx="10883429" cy="1764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190"/>
              </a:lnSpc>
              <a:buNone/>
            </a:pPr>
            <a:r>
              <a:rPr lang="en-US" sz="85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Indicative 8-week schedule for the Community-Based Project Learning cycle.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0833388" y="6256102"/>
            <a:ext cx="54573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 / 13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Display Semibold" pitchFamily="2" charset="0"/>
              </a:rPr>
              <a:t>Conclusion</a:t>
            </a:r>
            <a:endParaRPr lang="en-US" sz="3200" dirty="0">
              <a:latin typeface="Sitka Display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2" y="1233110"/>
            <a:ext cx="1844154" cy="45719"/>
          </a:xfrm>
          <a:prstGeom prst="rect">
            <a:avLst/>
          </a:prstGeom>
          <a:solidFill>
            <a:srgbClr val="3B8F6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2" y="1826165"/>
            <a:ext cx="10464800" cy="8520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2B354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successfully bridges the gap between citizens and municipal administrators for streetlight maintenance. By combining photo evidence, GPS geotagging and a live tracking workflow, it replaces an opaque, manual process with one that is fast, transparent and accountable — directly improving night-time safety across a ward.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2906837"/>
            <a:ext cx="10883429" cy="2083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440"/>
              </a:lnSpc>
              <a:buNone/>
            </a:pPr>
            <a:r>
              <a:rPr lang="en-US" sz="1400" b="1" dirty="0">
                <a:solidFill>
                  <a:srgbClr val="15202B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Scope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782" y="3153259"/>
            <a:ext cx="1088342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SMS / email alerts to citizens at each status change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12782" y="3412313"/>
            <a:ext cx="1088342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Analytics dashboard to identify recurring fault hotspots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12782" y="3671360"/>
            <a:ext cx="1088342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• </a:t>
            </a:r>
            <a:r>
              <a:rPr lang="en-US" sz="1200" dirty="0"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Integration with IoT light sensors for automatic fault detection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833388" y="6256102"/>
            <a:ext cx="54573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 / 13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5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782" y="812781"/>
            <a:ext cx="10883429" cy="49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80"/>
              </a:lnSpc>
              <a:buNone/>
            </a:pPr>
            <a:r>
              <a:rPr lang="en-US" sz="3200" b="1" i="0" dirty="0">
                <a:solidFill>
                  <a:srgbClr val="15202B"/>
                </a:solidFill>
                <a:latin typeface="Sitka Heading Semibold" pitchFamily="2" charset="0"/>
              </a:rPr>
              <a:t>References</a:t>
            </a:r>
            <a:endParaRPr lang="en-US" sz="3200" dirty="0">
              <a:latin typeface="Sitka Heading Semibold" pitchFamily="2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812783" y="1282641"/>
            <a:ext cx="1887286" cy="45719"/>
          </a:xfrm>
          <a:prstGeom prst="rect">
            <a:avLst/>
          </a:prstGeom>
          <a:solidFill>
            <a:srgbClr val="D98F1F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812782" y="1775290"/>
            <a:ext cx="10464800" cy="14735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Mozilla Developer Network — "Geolocation API," MDN Web Docs.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W3C — "Geolocation API Specification," World Wide Web Consortium.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Maheswaran, S. et al. — "Centralized Monitoring System: Street Light Fault Detection and Location Tracking for Smart City," ICECCC, IEEE, 2024.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Varghese, L.J. et al. — "Energy-Efficient Smart Street Lighting with Fault Detection and Real-Time Monitoring," ICICT, IEEE, 2025.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Chowdhury, A.T.M.M.M. et al. — "IoT-Based Streetlight Controlling, Monitoring and Real-Time Error Detection System for Smart Cities," ECCE, 2023.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/>
              <a:t>Shama, F., Aziz, A., Deya, L.B.M. — "</a:t>
            </a:r>
            <a:r>
              <a:rPr lang="en-IN" sz="1400" dirty="0" err="1"/>
              <a:t>CitySolution</a:t>
            </a:r>
            <a:r>
              <a:rPr lang="en-IN" sz="1400" dirty="0"/>
              <a:t>: A Complaining Task Distributive Mobile App for Smart City Corporations Using Deep Learning," arXiv:2410.12882, 2024.</a:t>
            </a:r>
          </a:p>
          <a:p>
            <a:pPr marL="342900" lvl="0" indent="-342900">
              <a:buFont typeface="+mj-lt"/>
              <a:buAutoNum type="arabicPeriod"/>
            </a:pPr>
            <a:r>
              <a:rPr lang="en-IN" sz="1400" dirty="0" err="1"/>
              <a:t>Bruhat</a:t>
            </a:r>
            <a:r>
              <a:rPr lang="en-IN" sz="1400" dirty="0"/>
              <a:t> Bengaluru </a:t>
            </a:r>
            <a:r>
              <a:rPr lang="en-IN" sz="1400" dirty="0" err="1"/>
              <a:t>Mahanagara</a:t>
            </a:r>
            <a:r>
              <a:rPr lang="en-IN" sz="1400" dirty="0"/>
              <a:t> </a:t>
            </a:r>
            <a:r>
              <a:rPr lang="en-IN" sz="1400" dirty="0" err="1"/>
              <a:t>Palike</a:t>
            </a:r>
            <a:r>
              <a:rPr lang="en-IN" sz="1400" dirty="0"/>
              <a:t> (BBMP) — "</a:t>
            </a:r>
            <a:r>
              <a:rPr lang="en-IN" sz="1400" dirty="0" err="1"/>
              <a:t>Sahaaya</a:t>
            </a:r>
            <a:r>
              <a:rPr lang="en-IN" sz="1400" dirty="0"/>
              <a:t>: Citizen Grievance Redressal Portal," bbmp.sahaaya.in.</a:t>
            </a:r>
          </a:p>
          <a:p>
            <a:pPr marL="182880" indent="-182880" algn="l">
              <a:lnSpc>
                <a:spcPts val="2280"/>
              </a:lnSpc>
              <a:buSzPct val="100000"/>
              <a:buFontTx/>
              <a:buAutoNum type="arabicPeriod"/>
            </a:pP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782" y="6256102"/>
            <a:ext cx="3509097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CivicLight — Streetlight Fault Reporting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0833388" y="6256102"/>
            <a:ext cx="545739" cy="22095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540"/>
              </a:lnSpc>
              <a:buNone/>
            </a:pPr>
            <a:r>
              <a:rPr lang="en-US" sz="1100" dirty="0">
                <a:solidFill>
                  <a:srgbClr val="5B6670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 / 13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vicLight — Streetlight Fault Reporting System">
  <a:themeElements>
    <a:clrScheme name="CivicLight — Streetlight Fault Reporting System">
      <a:dk1>
        <a:srgbClr val="15202B"/>
      </a:dk1>
      <a:lt1>
        <a:srgbClr val="F3F5F3"/>
      </a:lt1>
      <a:dk2>
        <a:srgbClr val="4D555D"/>
      </a:dk2>
      <a:lt2>
        <a:srgbClr val="DDE0DF"/>
      </a:lt2>
      <a:accent1>
        <a:srgbClr val="D98F1F"/>
      </a:accent1>
      <a:accent2>
        <a:srgbClr val="2E7A94"/>
      </a:accent2>
      <a:accent3>
        <a:srgbClr val="3B8F63"/>
      </a:accent3>
      <a:accent4>
        <a:srgbClr val="5B6670"/>
      </a:accent4>
      <a:accent5>
        <a:srgbClr val="C7CDD6"/>
      </a:accent5>
      <a:accent6>
        <a:srgbClr val="9AA4B2"/>
      </a:accent6>
      <a:hlink>
        <a:srgbClr val="0563C1"/>
      </a:hlink>
      <a:folHlink>
        <a:srgbClr val="954F72"/>
      </a:folHlink>
    </a:clrScheme>
    <a:fontScheme name="CivicLight — Streetlight Fault Reporting System">
      <a:majorFont>
        <a:latin typeface="IBM Plex San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</TotalTime>
  <Words>1162</Words>
  <Application>Microsoft Office PowerPoint</Application>
  <PresentationFormat>Widescreen</PresentationFormat>
  <Paragraphs>197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IBM Plex Sans</vt:lpstr>
      <vt:lpstr>Sitka Banner Semibold</vt:lpstr>
      <vt:lpstr>Sitka Display Semibold</vt:lpstr>
      <vt:lpstr>Sitka Heading</vt:lpstr>
      <vt:lpstr>Sitka Heading Semibold</vt:lpstr>
      <vt:lpstr>Space Grotesk</vt:lpstr>
      <vt:lpstr>CivicLight — Streetlight Fault Reporting System</vt:lpstr>
      <vt:lpstr>CivicLight</vt:lpstr>
      <vt:lpstr>Abstract</vt:lpstr>
      <vt:lpstr>Introduction</vt:lpstr>
      <vt:lpstr>Problem Statement</vt:lpstr>
      <vt:lpstr>Objectives</vt:lpstr>
      <vt:lpstr>Proposed System</vt:lpstr>
      <vt:lpstr>Hardware Requirements</vt:lpstr>
      <vt:lpstr>Software Requirements</vt:lpstr>
      <vt:lpstr>Methodology</vt:lpstr>
      <vt:lpstr>Screenshots of Results/Outcomes</vt:lpstr>
      <vt:lpstr>Project Timeline — Gantt Chart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CivicLight — Streetlight Fault Reporting System</dc:title>
  <dc:subject/>
  <dc:creator/>
  <cp:lastModifiedBy>Harsh Raj</cp:lastModifiedBy>
  <cp:revision>42</cp:revision>
  <cp:lastPrinted>2026-10-07T08:32:15Z</cp:lastPrinted>
  <dcterms:created xsi:type="dcterms:W3CDTF">2026-10-07T01:07:11Z</dcterms:created>
  <dcterms:modified xsi:type="dcterms:W3CDTF">2026-10-07T09:01:46Z</dcterms:modified>
</cp:coreProperties>
</file>